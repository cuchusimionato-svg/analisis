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6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7263B"/>
                </a:solidFill>
                <a:latin typeface="Calibri"/>
              </a:rPr>
              <a:t>Clientes que entran vs. se pierden, por escenario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que entran</c:v>
                </c:pt>
              </c:strCache>
            </c:strRef>
          </c:tx>
          <c:spPr>
            <a:solidFill>
              <a:srgbClr val="1E7A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Escenario 1
$1.430M</c:v>
                  </c:pt>
                  <c:pt idx="1">
                    <c:v>Escenario 2
$1.650M</c:v>
                  </c:pt>
                  <c:pt idx="2">
                    <c:v>Escenario 3
$2.000M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12</c:v>
                </c:pt>
                <c:pt idx="2">
                  <c:v>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Clientes que se pierden</c:v>
                </c:pt>
              </c:strCache>
            </c:strRef>
          </c:tx>
          <c:spPr>
            <a:solidFill>
              <a:srgbClr val="B23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Escenario 1
$1.430M</c:v>
                  </c:pt>
                  <c:pt idx="1">
                    <c:v>Escenario 2
$1.650M</c:v>
                  </c:pt>
                  <c:pt idx="2">
                    <c:v>Escenario 3
$2.000M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67</c:v>
                </c:pt>
                <c:pt idx="1">
                  <c:v>63</c:v>
                </c:pt>
                <c:pt idx="2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6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7182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5B7182"/>
                    </a:solidFill>
                    <a:latin typeface="Calibri"/>
                  </a:rPr>
                  <a:t>Contratos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1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726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28016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1463040"/>
            <a:ext cx="3291840" cy="3291840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DE CONTRATOS FEE ·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Escenarios de presupuesto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la renovación de contratos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Bolsas ZBB y Trade Spend combinadas  ·  76 contratos  ·  3 escenarios de presupuesto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 contratos de FEE están hoy en discusión de renovación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040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2026 se pagaron $1.780.000.000 en fees a través de dos bolsas de presupuesto distintas. Ese mismo presupuesto ya no está garantizado para 2027: la pregunta es qué clientes podemos renovar con la plata que consigamos.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800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FF4F7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491032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5486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vigentes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4800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FF4F7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491032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$1.780M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29000" y="5486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pagados en 2026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(ambas bolsas)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4800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FF4F7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491032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72200" y="5486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bolsas de origen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ZBB / Trade Spend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78240" y="48006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FF4F7"/>
          </a:solidFill>
          <a:ln/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491032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915400" y="54864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de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a evaluar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09560" y="1371600"/>
            <a:ext cx="3703320" cy="3063240"/>
          </a:xfrm>
          <a:prstGeom prst="roundRect">
            <a:avLst>
              <a:gd name="adj" fmla="val 2388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15727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BOLSAS DE PRESUPUESTO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8388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ZBB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18388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$1.101.000.000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83880" y="26700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contratos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83880" y="3154680"/>
            <a:ext cx="3154680" cy="0"/>
          </a:xfrm>
          <a:prstGeom prst="line">
            <a:avLst/>
          </a:prstGeom>
          <a:noFill/>
          <a:ln w="12700">
            <a:solidFill>
              <a:srgbClr val="3E7A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Spend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18388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$679.000.000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83880" y="39959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contratos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288036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bolsas se analizan juntas: la importancia de un cliente no depende de qué presupuesto pagó su fee históricamente.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de Contratos FEE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priorizamos y cómo valuamos cada renovación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EFF4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PRIORIZACIÓN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176272"/>
            <a:ext cx="201168" cy="201168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103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IMPERDIBLE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44144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clientes — no se negocian, se priorizan primero en todos los escenarios.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3182112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1089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44728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clientes — entran si el presupuesto alcanza después de cubrir los imperdibles.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42062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cada tier, el orden de prioridad es manual (definido cliente por cliente) y determina qué entra primero cuando el presupuesto es limitado.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5029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contrato CERRO (local que cierra) no participa de ningún escenario.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0F1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COSTO DE RENOVACIÓN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1 — FEE Actualizado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245973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mercado / sistema, cliente por cliente.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1089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2 — FEE + Inflación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341985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pagado hoy, ajustado por inflación acumulada según duración del contrato.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40690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3 — Punto medio ★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43799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entre Criterio 1 y Criterio 2. Es el que usamos como presupuesto de referencia en los 3 escenarios.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507492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514807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escenarios de este informe usan el Criterio 3 (punto medio) como presupuesto de referencia.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de Contratos FEE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escenarios de presupuesto, tres resultados muy distintos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466344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3611880" cy="777240"/>
          </a:xfrm>
          <a:prstGeom prst="roundRect">
            <a:avLst>
              <a:gd name="adj" fmla="val 10588"/>
            </a:avLst>
          </a:prstGeom>
          <a:solidFill>
            <a:srgbClr val="B23A2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47088"/>
            <a:ext cx="3611880" cy="393192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ZBB — presupuesto disponible hoy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63347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$1.430.276.270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15773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7240" y="3639312"/>
            <a:ext cx="1577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54580" y="3154680"/>
            <a:ext cx="15773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354580" y="3639312"/>
            <a:ext cx="1577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4069080"/>
            <a:ext cx="3154680" cy="0"/>
          </a:xfrm>
          <a:prstGeom prst="line">
            <a:avLst/>
          </a:prstGeom>
          <a:noFill/>
          <a:ln w="12700">
            <a:solidFill>
              <a:srgbClr val="E3E9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0624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USADO (CRITERIO 3)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44165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$1.444.617.170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82803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" y="503834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$14.340.900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" y="5486400"/>
            <a:ext cx="3154680" cy="384048"/>
          </a:xfrm>
          <a:prstGeom prst="roundRect">
            <a:avLst>
              <a:gd name="adj" fmla="val 50000"/>
            </a:avLst>
          </a:prstGeom>
          <a:solidFill>
            <a:srgbClr val="EFF4F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8640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PASA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25112" y="1463040"/>
            <a:ext cx="3611880" cy="466344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25112" y="1463040"/>
            <a:ext cx="3611880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4325112" y="1847088"/>
            <a:ext cx="3611880" cy="3931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553712" y="1554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 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53712" y="18928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ZBB + adicional a conseguir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53712" y="242316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53712" y="263347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$1.650.000.000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53712" y="3154680"/>
            <a:ext cx="15773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4553712" y="3639312"/>
            <a:ext cx="1577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31052" y="3154680"/>
            <a:ext cx="15773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131052" y="3639312"/>
            <a:ext cx="1577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53712" y="4069080"/>
            <a:ext cx="3154680" cy="0"/>
          </a:xfrm>
          <a:prstGeom prst="line">
            <a:avLst/>
          </a:prstGeom>
          <a:noFill/>
          <a:ln w="12700">
            <a:solidFill>
              <a:srgbClr val="E3E9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53712" y="420624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USADO (CRITERIO 3)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53712" y="44165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$1.603.293.041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53712" y="482803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SOBRANTE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53712" y="503834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$46.706.959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553712" y="5486400"/>
            <a:ext cx="3154680" cy="384048"/>
          </a:xfrm>
          <a:prstGeom prst="roundRect">
            <a:avLst>
              <a:gd name="adj" fmla="val 50000"/>
            </a:avLst>
          </a:prstGeom>
          <a:solidFill>
            <a:srgbClr val="EFF4F7"/>
          </a:solidFill>
          <a:ln/>
        </p:spPr>
      </p:sp>
      <p:sp>
        <p:nvSpPr>
          <p:cNvPr id="39" name="Text 37"/>
          <p:cNvSpPr/>
          <p:nvPr/>
        </p:nvSpPr>
        <p:spPr>
          <a:xfrm>
            <a:off x="4553712" y="548640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AJUSTADO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01584" y="1463040"/>
            <a:ext cx="3611880" cy="466344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01584" y="1463040"/>
            <a:ext cx="3611880" cy="777240"/>
          </a:xfrm>
          <a:prstGeom prst="roundRect">
            <a:avLst>
              <a:gd name="adj" fmla="val 10588"/>
            </a:avLst>
          </a:prstGeom>
          <a:solidFill>
            <a:srgbClr val="1E7A46"/>
          </a:solidFill>
          <a:ln/>
        </p:spPr>
      </p:sp>
      <p:sp>
        <p:nvSpPr>
          <p:cNvPr id="42" name="Shape 40"/>
          <p:cNvSpPr/>
          <p:nvPr/>
        </p:nvSpPr>
        <p:spPr>
          <a:xfrm>
            <a:off x="8101584" y="1847088"/>
            <a:ext cx="3611880" cy="393192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43" name="Text 41"/>
          <p:cNvSpPr/>
          <p:nvPr/>
        </p:nvSpPr>
        <p:spPr>
          <a:xfrm>
            <a:off x="8330184" y="1554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 3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330184" y="18928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ZBB + Trade Spend — total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330184" y="242316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330184" y="263347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$2.000.000.000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8330184" y="3154680"/>
            <a:ext cx="15773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8330184" y="3639312"/>
            <a:ext cx="1577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907524" y="3154680"/>
            <a:ext cx="15773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9907524" y="3639312"/>
            <a:ext cx="1577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330184" y="4069080"/>
            <a:ext cx="3154680" cy="0"/>
          </a:xfrm>
          <a:prstGeom prst="line">
            <a:avLst/>
          </a:prstGeom>
          <a:noFill/>
          <a:ln w="12700">
            <a:solidFill>
              <a:srgbClr val="E3E9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30184" y="420624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USADO (CRITERIO 3)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330184" y="44165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$1.955.473.687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8330184" y="482803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SOBRANTE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330184" y="503834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$44.526.313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8330184" y="5486400"/>
            <a:ext cx="3154680" cy="384048"/>
          </a:xfrm>
          <a:prstGeom prst="roundRect">
            <a:avLst>
              <a:gd name="adj" fmla="val 50000"/>
            </a:avLst>
          </a:prstGeom>
          <a:solidFill>
            <a:srgbClr val="EFF4F7"/>
          </a:solidFill>
          <a:ln/>
        </p:spPr>
      </p:sp>
      <p:sp>
        <p:nvSpPr>
          <p:cNvPr id="57" name="Text 55"/>
          <p:cNvSpPr/>
          <p:nvPr/>
        </p:nvSpPr>
        <p:spPr>
          <a:xfrm>
            <a:off x="8330184" y="548640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IMPERDIBLES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de Contratos FEE 2026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más presupuesto, más clientes IMPERDIBLES asegurados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03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463040"/>
            <a:ext cx="3931920" cy="4526280"/>
          </a:xfrm>
          <a:prstGeom prst="roundRect">
            <a:avLst>
              <a:gd name="adj" fmla="val 1860"/>
            </a:avLst>
          </a:prstGeom>
          <a:solidFill>
            <a:srgbClr val="EFF4F7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IMPERDIBLES QUE SE PIERDEN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90956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195560" y="21488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09560" y="27706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195560" y="277063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909560" y="33924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195560" y="339242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7909560" y="4059936"/>
            <a:ext cx="3474720" cy="0"/>
          </a:xfrm>
          <a:prstGeom prst="line">
            <a:avLst/>
          </a:prstGeom>
          <a:noFill/>
          <a:ln w="12700">
            <a:solidFill>
              <a:srgbClr val="D5DE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09560" y="4242816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Escenario 3 es el único que no sacrifica ningún cliente IMPERDIBLE: sólo deja afuera clientes DISCUTIBLES.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de Contratos FEE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 1 — Sólo la bolsa ZBB de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FF4F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90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$1.430.276.270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9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(Criterio 3)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FF4F7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490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entran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FF4F7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490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26364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pierden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915400" y="141732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FF4F7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490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$14.340.900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05256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6517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BOLSA — CLIENTES QUE ENTRAN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29443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ZBB  (6 entran / 23 se pierden)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163824"/>
            <a:ext cx="5120640" cy="164592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163824"/>
            <a:ext cx="1059443" cy="164592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1129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Spend  (2 entran / 44 se pierden)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730752"/>
            <a:ext cx="5120640" cy="164592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730752"/>
            <a:ext cx="222637" cy="164592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6966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CLIENTES IMPERDIBLES QUE SE PIERDEN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443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Calamar Loco PG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44439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$41.000.000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7365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Bendu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0" y="4736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$40.000.000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029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Pueblo Límite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97680" y="5029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$30.000.000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3218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Pampa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0" y="53218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$25.000.000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56144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Estación Central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97680" y="56144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$25.000.000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141732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0F1B3C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ESTE ESCENARIO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92240" y="201168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presupuesto de hoy sólo alcanza para renovar 8 de los 76 clientes. Se pierden 24 clientes IMPERDIBLES — entre ellos varios de Trade Spend, que con este escenario prácticamente no tiene lugar (2 entran de 46).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Además, el escenario se pasa por $14,3M: entra sólo porque un cliente (Luna Roja) quedó incluido manualmente pese a superar el límite.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de Contratos FEE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 2 — ZBB + presupuesto adicional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FF4F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90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$1.650.000.000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9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(Criterio 3)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FF4F7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490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entran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FF4F7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490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26364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pierden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915400" y="141732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FF4F7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490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$46.706.959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05256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Sobrante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6517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BOLSA — CLIENTES QUE ENTRAN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29443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ZBB  (7 entran / 22 se pierden)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163824"/>
            <a:ext cx="5120640" cy="164592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163824"/>
            <a:ext cx="1236017" cy="164592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1129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Spend  (5 entran / 41 se pierden)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730752"/>
            <a:ext cx="5120640" cy="164592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730752"/>
            <a:ext cx="556591" cy="164592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6966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CLIENTES IMPERDIBLES QUE SE PIERDEN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443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Estación Central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44439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$25.000.000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7365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Mar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0" y="4736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$17.500.000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029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Toldos Viejos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97680" y="5029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$16.000.000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3218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 Aluminé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0" y="53218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$16.000.000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56144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EDV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97680" y="56144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$11.000.000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141732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0F1B3C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ESTE ESCENARIO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92240" y="201168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$219,7M adicionales mejora poco el panorama: pasamos de 8 a 12 clientes renovados, pero seguimos perdiendo 20 IMPERDIBLES.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presupuesto ya alcanza y sobran $46,7M, pero la mejora no es proporcional al esfuerzo de conseguir más plata: hace falta un salto de escala mayor (Escenario 3) para cambiar el resultado.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de Contratos FEE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Escenario 3 — ZBB + Trade Spend, presupuesto total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FF4F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90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$2.000.000.000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9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(Criterio 3)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FF4F7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490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entran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FF4F7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490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26364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5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pierden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915400" y="141732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FF4F7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490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$44.526.313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05256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Sobrante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6517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BOLSA — CLIENTES QUE ENTRAN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29443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ZBB  (18 entran / 11 se pierden)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163824"/>
            <a:ext cx="5120640" cy="164592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163824"/>
            <a:ext cx="3178328" cy="164592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1129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Spend  (15 entran / 31 se pierden)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730752"/>
            <a:ext cx="5120640" cy="164592"/>
          </a:xfrm>
          <a:prstGeom prst="rect">
            <a:avLst/>
          </a:prstGeom>
          <a:solidFill>
            <a:srgbClr val="E3E9ED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730752"/>
            <a:ext cx="1669774" cy="164592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6966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CLIENTES IMPERDIBLES QUE SE PIERDEN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43984"/>
            <a:ext cx="5120640" cy="502920"/>
          </a:xfrm>
          <a:prstGeom prst="roundRect">
            <a:avLst>
              <a:gd name="adj" fmla="val 12727"/>
            </a:avLst>
          </a:prstGeom>
          <a:solidFill>
            <a:srgbClr val="E7F3EC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44398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— todos los clientes IMPERDIBLES quedan cubiertos.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72200" y="141732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0F1B3C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ESTE ESCENARIO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92240" y="201168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único escenario que cubre el 100% de los clientes IMPERDIBLES (32 de 32). Todo lo que se pierde son 42 clientes DISCUTIBLES — la categoría diseñada justamente para quedar afuera primero.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presupuesto casi se ajusta exacto: sobran sólo $44,5M sobre $2.000M. Cualquier suba en la negociación real (ver casos especiales) puede consumir ese margen por completo.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de Contratos FEE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ESPECIALES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Bruto, Estación Central y Santa: los contratos de mayor riesgo de sobrecosto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comparten contrato a 36 meses firmado en 2024 (vence en 2027) con 213% de inflación acumulada — el tramo más alto de la tabla. Eso hace que el costo de renovación estimado (Criterio 3) sea entre 2,7x y 3,2x el fee que se paga hoy.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76856"/>
            <a:ext cx="361188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020824"/>
            <a:ext cx="3209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313432"/>
            <a:ext cx="3209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Monkey SA · Budweiser · Nocturnidad/Eventos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749808" y="2697480"/>
            <a:ext cx="3209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 / Prioridad: </a:t>
            </a:r>
            <a:pPr indent="0" marL="0">
              <a:buNone/>
            </a:pPr>
            <a:r>
              <a:rPr lang="en-US" sz="9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ZBB · #5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2953512"/>
            <a:ext cx="3209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Vigencia: </a:t>
            </a:r>
            <a:pPr indent="0" marL="0">
              <a:buNone/>
            </a:pPr>
            <a:r>
              <a:rPr lang="en-US" sz="9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 2024 – Ene 2027 (36 meses)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209544"/>
            <a:ext cx="3209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FEE actual: </a:t>
            </a:r>
            <a:pPr indent="0" marL="0">
              <a:buNone/>
            </a:pPr>
            <a:r>
              <a:rPr lang="en-US" sz="9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$95.000.000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3465576"/>
            <a:ext cx="3209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1 (mercado): </a:t>
            </a:r>
            <a:pPr indent="0" marL="0">
              <a:buNone/>
            </a:pPr>
            <a:r>
              <a:rPr lang="en-US" sz="9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$313.371.404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" y="3721608"/>
            <a:ext cx="3209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2 (+inflación): </a:t>
            </a:r>
            <a:pPr indent="0" marL="0">
              <a:buNone/>
            </a:pPr>
            <a:r>
              <a:rPr lang="en-US" sz="9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$297.350.000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9808" y="4032504"/>
            <a:ext cx="3209544" cy="420624"/>
          </a:xfrm>
          <a:prstGeom prst="roundRect">
            <a:avLst>
              <a:gd name="adj" fmla="val 13043"/>
            </a:avLst>
          </a:prstGeom>
          <a:solidFill>
            <a:srgbClr val="EFF4F7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403250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3 — PUNTO MEDIO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2240280" y="4032504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$305.360.702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456285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3,2x el fee actual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97480" y="4544568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/>
        </p:spPr>
      </p:sp>
      <p:sp>
        <p:nvSpPr>
          <p:cNvPr id="20" name="Text 18"/>
          <p:cNvSpPr/>
          <p:nvPr/>
        </p:nvSpPr>
        <p:spPr>
          <a:xfrm>
            <a:off x="2697480" y="45445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18104" y="4544568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/>
        </p:spPr>
      </p:sp>
      <p:sp>
        <p:nvSpPr>
          <p:cNvPr id="22" name="Text 20"/>
          <p:cNvSpPr/>
          <p:nvPr/>
        </p:nvSpPr>
        <p:spPr>
          <a:xfrm>
            <a:off x="3118104" y="45445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38728" y="4544568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/>
        </p:spPr>
      </p:sp>
      <p:sp>
        <p:nvSpPr>
          <p:cNvPr id="24" name="Text 22"/>
          <p:cNvSpPr/>
          <p:nvPr/>
        </p:nvSpPr>
        <p:spPr>
          <a:xfrm>
            <a:off x="3538728" y="45445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25112" y="196596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25112" y="1965960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4325112" y="2276856"/>
            <a:ext cx="361188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2020824"/>
            <a:ext cx="3209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Estación Central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6280" y="2313432"/>
            <a:ext cx="3209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Vamoelpack MDP S.A. · Corona · Nocturnidad/Eventos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526280" y="2697480"/>
            <a:ext cx="3209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 / Prioridad: </a:t>
            </a:r>
            <a:pPr indent="0" marL="0">
              <a:buNone/>
            </a:pPr>
            <a:r>
              <a:rPr lang="en-US" sz="9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ZBB · #13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26280" y="2953512"/>
            <a:ext cx="3209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Vigencia: </a:t>
            </a:r>
            <a:pPr indent="0" marL="0">
              <a:buNone/>
            </a:pPr>
            <a:r>
              <a:rPr lang="en-US" sz="9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 2024 – Ene 2027 (36 meses)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26280" y="3209544"/>
            <a:ext cx="3209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FEE actual: </a:t>
            </a:r>
            <a:pPr indent="0" marL="0">
              <a:buNone/>
            </a:pPr>
            <a:r>
              <a:rPr lang="en-US" sz="9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$25.000.000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26280" y="3465576"/>
            <a:ext cx="3209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1 (mercado): </a:t>
            </a:r>
            <a:pPr indent="0" marL="0">
              <a:buNone/>
            </a:pPr>
            <a:r>
              <a:rPr lang="en-US" sz="9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$56.076.988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26280" y="3721608"/>
            <a:ext cx="3209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2 (+inflación): </a:t>
            </a:r>
            <a:pPr indent="0" marL="0">
              <a:buNone/>
            </a:pPr>
            <a:r>
              <a:rPr lang="en-US" sz="9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$78.250.000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26280" y="4032504"/>
            <a:ext cx="3209544" cy="420624"/>
          </a:xfrm>
          <a:prstGeom prst="roundRect">
            <a:avLst>
              <a:gd name="adj" fmla="val 13043"/>
            </a:avLst>
          </a:prstGeom>
          <a:solidFill>
            <a:srgbClr val="EFF4F7"/>
          </a:solidFill>
          <a:ln/>
        </p:spPr>
      </p:sp>
      <p:sp>
        <p:nvSpPr>
          <p:cNvPr id="36" name="Text 34"/>
          <p:cNvSpPr/>
          <p:nvPr/>
        </p:nvSpPr>
        <p:spPr>
          <a:xfrm>
            <a:off x="4636008" y="403250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3 — PUNTO MEDIO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6016752" y="4032504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$67.163.494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26280" y="456285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2,7x el fee actual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73952" y="4544568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E3E9ED"/>
          </a:solidFill>
          <a:ln/>
        </p:spPr>
      </p:sp>
      <p:sp>
        <p:nvSpPr>
          <p:cNvPr id="40" name="Text 38"/>
          <p:cNvSpPr/>
          <p:nvPr/>
        </p:nvSpPr>
        <p:spPr>
          <a:xfrm>
            <a:off x="6473952" y="45445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94576" y="4544568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E3E9ED"/>
          </a:solidFill>
          <a:ln/>
        </p:spPr>
      </p:sp>
      <p:sp>
        <p:nvSpPr>
          <p:cNvPr id="42" name="Text 40"/>
          <p:cNvSpPr/>
          <p:nvPr/>
        </p:nvSpPr>
        <p:spPr>
          <a:xfrm>
            <a:off x="6894576" y="45445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15200" y="4544568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0" y="45445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101584" y="196596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01584" y="1965960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47" name="Shape 45"/>
          <p:cNvSpPr/>
          <p:nvPr/>
        </p:nvSpPr>
        <p:spPr>
          <a:xfrm>
            <a:off x="8101584" y="2276856"/>
            <a:ext cx="361188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8" name="Text 46"/>
          <p:cNvSpPr/>
          <p:nvPr/>
        </p:nvSpPr>
        <p:spPr>
          <a:xfrm>
            <a:off x="8302752" y="2020824"/>
            <a:ext cx="3209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Santa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302752" y="2313432"/>
            <a:ext cx="3209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Praisolo SA · Stella Artois · Balnearios</a:t>
            </a:r>
            <a:endParaRPr lang="en-US" sz="830" dirty="0"/>
          </a:p>
        </p:txBody>
      </p:sp>
      <p:sp>
        <p:nvSpPr>
          <p:cNvPr id="50" name="Text 48"/>
          <p:cNvSpPr/>
          <p:nvPr/>
        </p:nvSpPr>
        <p:spPr>
          <a:xfrm>
            <a:off x="8302752" y="2697480"/>
            <a:ext cx="3209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 / Prioridad: </a:t>
            </a:r>
            <a:pPr indent="0" marL="0">
              <a:buNone/>
            </a:pPr>
            <a:r>
              <a:rPr lang="en-US" sz="9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ZBB · #26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302752" y="2953512"/>
            <a:ext cx="3209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Vigencia: </a:t>
            </a:r>
            <a:pPr indent="0" marL="0">
              <a:buNone/>
            </a:pPr>
            <a:r>
              <a:rPr lang="en-US" sz="9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 2024 – Ene 2027 (36 meses)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302752" y="3209544"/>
            <a:ext cx="3209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FEE actual: </a:t>
            </a:r>
            <a:pPr indent="0" marL="0">
              <a:buNone/>
            </a:pPr>
            <a:r>
              <a:rPr lang="en-US" sz="9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$5.000.000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302752" y="3465576"/>
            <a:ext cx="3209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1 (mercado): </a:t>
            </a:r>
            <a:pPr indent="0" marL="0">
              <a:buNone/>
            </a:pPr>
            <a:r>
              <a:rPr lang="en-US" sz="9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$11.215.398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302752" y="3721608"/>
            <a:ext cx="3209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2 (+inflación): </a:t>
            </a:r>
            <a:pPr indent="0" marL="0">
              <a:buNone/>
            </a:pPr>
            <a:r>
              <a:rPr lang="en-US" sz="9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$15.650.000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302752" y="4032504"/>
            <a:ext cx="3209544" cy="420624"/>
          </a:xfrm>
          <a:prstGeom prst="roundRect">
            <a:avLst>
              <a:gd name="adj" fmla="val 13043"/>
            </a:avLst>
          </a:prstGeom>
          <a:solidFill>
            <a:srgbClr val="EFF4F7"/>
          </a:solidFill>
          <a:ln/>
        </p:spPr>
      </p:sp>
      <p:sp>
        <p:nvSpPr>
          <p:cNvPr id="56" name="Text 54"/>
          <p:cNvSpPr/>
          <p:nvPr/>
        </p:nvSpPr>
        <p:spPr>
          <a:xfrm>
            <a:off x="8412480" y="403250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3 — PUNTO MEDIO</a:t>
            </a:r>
            <a:endParaRPr lang="en-US" sz="780" dirty="0"/>
          </a:p>
        </p:txBody>
      </p:sp>
      <p:sp>
        <p:nvSpPr>
          <p:cNvPr id="57" name="Text 55"/>
          <p:cNvSpPr/>
          <p:nvPr/>
        </p:nvSpPr>
        <p:spPr>
          <a:xfrm>
            <a:off x="9793224" y="4032504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$13.432.699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302752" y="456285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2,7x el fee actual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0250424" y="4544568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E3E9ED"/>
          </a:solidFill>
          <a:ln/>
        </p:spPr>
      </p:sp>
      <p:sp>
        <p:nvSpPr>
          <p:cNvPr id="60" name="Text 58"/>
          <p:cNvSpPr/>
          <p:nvPr/>
        </p:nvSpPr>
        <p:spPr>
          <a:xfrm>
            <a:off x="10250424" y="45445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671048" y="4544568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E3E9ED"/>
          </a:solidFill>
          <a:ln/>
        </p:spPr>
      </p:sp>
      <p:sp>
        <p:nvSpPr>
          <p:cNvPr id="62" name="Text 60"/>
          <p:cNvSpPr/>
          <p:nvPr/>
        </p:nvSpPr>
        <p:spPr>
          <a:xfrm>
            <a:off x="10671048" y="45445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1091672" y="4544568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/>
        </p:spPr>
      </p:sp>
      <p:sp>
        <p:nvSpPr>
          <p:cNvPr id="64" name="Text 62"/>
          <p:cNvSpPr/>
          <p:nvPr/>
        </p:nvSpPr>
        <p:spPr>
          <a:xfrm>
            <a:off x="11091672" y="45445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EFF4F7"/>
          </a:solidFill>
          <a:ln w="12700">
            <a:solidFill>
              <a:srgbClr val="C7D2D9"/>
            </a:solidFill>
            <a:prstDash val="dash"/>
          </a:ln>
        </p:spPr>
      </p:sp>
      <p:sp>
        <p:nvSpPr>
          <p:cNvPr id="66" name="Text 64"/>
          <p:cNvSpPr/>
          <p:nvPr/>
        </p:nvSpPr>
        <p:spPr>
          <a:xfrm>
            <a:off x="777240" y="5458968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NEGOCIACIÓN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77240" y="573328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de Contratos FEE 2026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a tener en cuenta y qué sigue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3 es una referencia de modelo, no el resultado real de la negociación: el cliente puede pedir más, sobre todo en contratos largos con alta inflación acumulada (ver Bruto, Estación Central y Santa).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83464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Escenario 3 se ajusta casi exacto al presupuesto ($44,5M de margen sobre $2.000M): cualquier sobrecosto en la negociación real puede dejarlo corto.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88620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probable que el número final de cierre supere lo modelado en esta planilla y sea necesario pedir presupuesto adicional para sostener a los clientes IMPERDIBLES.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10881360" cy="0"/>
          </a:xfrm>
          <a:prstGeom prst="line">
            <a:avLst/>
          </a:prstGeom>
          <a:noFill/>
          <a:ln w="12700">
            <a:solidFill>
              <a:srgbClr val="2A3E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212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definir con el negocio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escenario usar como base de negociación  ·  orden final de prioridad manual  ·  monto adicional a solicitar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de Contratos FEE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2026-07-22T12:02:02Z</dcterms:created>
  <dcterms:modified xsi:type="dcterms:W3CDTF">2026-07-22T12:02:02Z</dcterms:modified>
</cp:coreProperties>
</file>